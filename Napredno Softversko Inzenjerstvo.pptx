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2" r:id="rId4"/>
  </p:sldMasterIdLst>
  <p:notesMasterIdLst>
    <p:notesMasterId r:id="rId23"/>
  </p:notesMasterIdLst>
  <p:handoutMasterIdLst>
    <p:handoutMasterId r:id="rId24"/>
  </p:handoutMasterIdLst>
  <p:sldIdLst>
    <p:sldId id="256" r:id="rId5"/>
    <p:sldId id="262" r:id="rId6"/>
    <p:sldId id="268" r:id="rId7"/>
    <p:sldId id="263" r:id="rId8"/>
    <p:sldId id="267" r:id="rId9"/>
    <p:sldId id="264" r:id="rId10"/>
    <p:sldId id="269" r:id="rId11"/>
    <p:sldId id="275" r:id="rId12"/>
    <p:sldId id="265" r:id="rId13"/>
    <p:sldId id="266" r:id="rId14"/>
    <p:sldId id="276" r:id="rId15"/>
    <p:sldId id="277" r:id="rId16"/>
    <p:sldId id="270" r:id="rId17"/>
    <p:sldId id="273" r:id="rId18"/>
    <p:sldId id="271" r:id="rId19"/>
    <p:sldId id="274" r:id="rId20"/>
    <p:sldId id="272" r:id="rId21"/>
    <p:sldId id="260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48" autoAdjust="0"/>
  </p:normalViewPr>
  <p:slideViewPr>
    <p:cSldViewPr snapToGrid="0">
      <p:cViewPr varScale="1">
        <p:scale>
          <a:sx n="105" d="100"/>
          <a:sy n="105" d="100"/>
        </p:scale>
        <p:origin x="7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8" d="100"/>
          <a:sy n="68" d="100"/>
        </p:scale>
        <p:origin x="3288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F81CEA5-62FD-4C83-BDE3-91DFB9827D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1CBFD-6AD0-48C4-B91B-58830F6F4C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869721-F543-4A6C-BF9D-65D7CC540427}" type="datetimeFigureOut">
              <a:rPr lang="en-US" smtClean="0"/>
              <a:t>2/9/2026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E55D22-46A3-4B8C-AD40-252FE7896C3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70DCEF-9071-4B17-801B-37B4465C8E1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90168E-626C-4E60-93C0-A00D2560946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93477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32326A-4C88-4AFB-AA5B-5919D81DFF5B}" type="datetimeFigureOut">
              <a:rPr lang="en-US" smtClean="0"/>
              <a:t>2/9/2026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3AB32-59DF-41F1-9618-EDFBF504962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18056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B3AB32-59DF-41F1-9618-EDFBF504962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0047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Ako </a:t>
            </a:r>
            <a:r>
              <a:rPr lang="en-US" dirty="0" err="1"/>
              <a:t>pravimo</a:t>
            </a:r>
            <a:r>
              <a:rPr lang="en-US" dirty="0"/>
              <a:t> </a:t>
            </a:r>
            <a:r>
              <a:rPr lang="en-US" dirty="0" err="1"/>
              <a:t>mali</a:t>
            </a:r>
            <a:r>
              <a:rPr lang="en-US" dirty="0"/>
              <a:t> REST </a:t>
            </a:r>
            <a:r>
              <a:rPr lang="en-US" dirty="0" err="1"/>
              <a:t>servis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backend za SPA </a:t>
            </a:r>
            <a:r>
              <a:rPr lang="en-US" dirty="0" err="1"/>
              <a:t>aplikaciju</a:t>
            </a:r>
            <a:r>
              <a:rPr lang="en-US" dirty="0"/>
              <a:t>, </a:t>
            </a:r>
            <a:r>
              <a:rPr lang="en-US" dirty="0" err="1"/>
              <a:t>često</a:t>
            </a:r>
            <a:r>
              <a:rPr lang="en-US" dirty="0"/>
              <a:t> </a:t>
            </a:r>
            <a:r>
              <a:rPr lang="en-US" dirty="0" err="1"/>
              <a:t>pišemo</a:t>
            </a:r>
            <a:r>
              <a:rPr lang="en-US" dirty="0"/>
              <a:t> </a:t>
            </a:r>
            <a:r>
              <a:rPr lang="en-US" dirty="0" err="1"/>
              <a:t>više</a:t>
            </a:r>
            <a:r>
              <a:rPr lang="en-US" dirty="0"/>
              <a:t> </a:t>
            </a:r>
            <a:r>
              <a:rPr lang="en-US" dirty="0" err="1"/>
              <a:t>infrastrukture</a:t>
            </a:r>
            <a:r>
              <a:rPr lang="en-US" dirty="0"/>
              <a:t> </a:t>
            </a:r>
            <a:r>
              <a:rPr lang="en-US" dirty="0" err="1"/>
              <a:t>nego</a:t>
            </a:r>
            <a:r>
              <a:rPr lang="en-US" dirty="0"/>
              <a:t> </a:t>
            </a:r>
            <a:r>
              <a:rPr lang="en-US" dirty="0" err="1"/>
              <a:t>stvarne</a:t>
            </a:r>
            <a:r>
              <a:rPr lang="en-US" dirty="0"/>
              <a:t> </a:t>
            </a:r>
            <a:r>
              <a:rPr lang="en-US" dirty="0" err="1"/>
              <a:t>logike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B3AB32-59DF-41F1-9618-EDFBF504962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70257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“Minimal APIs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uvedeni</a:t>
            </a:r>
            <a:r>
              <a:rPr lang="en-US" dirty="0"/>
              <a:t> da bi se </a:t>
            </a:r>
            <a:r>
              <a:rPr lang="en-US" dirty="0" err="1"/>
              <a:t>smanjila</a:t>
            </a:r>
            <a:r>
              <a:rPr lang="en-US" dirty="0"/>
              <a:t> </a:t>
            </a:r>
            <a:r>
              <a:rPr lang="en-US" dirty="0" err="1"/>
              <a:t>količina</a:t>
            </a:r>
            <a:r>
              <a:rPr lang="en-US" dirty="0"/>
              <a:t> boilerplate </a:t>
            </a:r>
            <a:r>
              <a:rPr lang="en-US" dirty="0" err="1"/>
              <a:t>koda</a:t>
            </a:r>
            <a:r>
              <a:rPr lang="en-US" dirty="0"/>
              <a:t> </a:t>
            </a:r>
            <a:r>
              <a:rPr lang="en-US" dirty="0" err="1"/>
              <a:t>prilikom</a:t>
            </a:r>
            <a:r>
              <a:rPr lang="en-US" dirty="0"/>
              <a:t> </a:t>
            </a:r>
            <a:r>
              <a:rPr lang="en-US" dirty="0" err="1"/>
              <a:t>razvoja</a:t>
            </a:r>
            <a:r>
              <a:rPr lang="en-US" dirty="0"/>
              <a:t> HTTP </a:t>
            </a:r>
            <a:r>
              <a:rPr lang="en-US" dirty="0" err="1"/>
              <a:t>servisa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 err="1"/>
              <a:t>Ideja</a:t>
            </a:r>
            <a:r>
              <a:rPr lang="en-US" dirty="0"/>
              <a:t> </a:t>
            </a:r>
            <a:r>
              <a:rPr lang="en-US" dirty="0" err="1"/>
              <a:t>nije</a:t>
            </a:r>
            <a:r>
              <a:rPr lang="en-US" dirty="0"/>
              <a:t> da se </a:t>
            </a:r>
            <a:r>
              <a:rPr lang="en-US" dirty="0" err="1"/>
              <a:t>uklone</a:t>
            </a:r>
            <a:r>
              <a:rPr lang="en-US" dirty="0"/>
              <a:t> </a:t>
            </a:r>
            <a:r>
              <a:rPr lang="en-US" dirty="0" err="1"/>
              <a:t>postojeće</a:t>
            </a:r>
            <a:r>
              <a:rPr lang="en-US" dirty="0"/>
              <a:t> </a:t>
            </a:r>
            <a:r>
              <a:rPr lang="en-US" dirty="0" err="1"/>
              <a:t>mogućnosti</a:t>
            </a:r>
            <a:r>
              <a:rPr lang="en-US" dirty="0"/>
              <a:t> ASP.NET Core-a, </a:t>
            </a:r>
            <a:r>
              <a:rPr lang="en-US" dirty="0" err="1"/>
              <a:t>već</a:t>
            </a:r>
            <a:r>
              <a:rPr lang="en-US" dirty="0"/>
              <a:t> da se </a:t>
            </a:r>
            <a:r>
              <a:rPr lang="en-US" dirty="0" err="1"/>
              <a:t>omogući</a:t>
            </a:r>
            <a:r>
              <a:rPr lang="en-US" dirty="0"/>
              <a:t> </a:t>
            </a:r>
            <a:r>
              <a:rPr lang="en-US" dirty="0" err="1"/>
              <a:t>direktniji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čitljiviji</a:t>
            </a:r>
            <a:r>
              <a:rPr lang="en-US" dirty="0"/>
              <a:t> </a:t>
            </a:r>
            <a:r>
              <a:rPr lang="en-US" dirty="0" err="1"/>
              <a:t>način</a:t>
            </a:r>
            <a:r>
              <a:rPr lang="en-US" dirty="0"/>
              <a:t> </a:t>
            </a:r>
            <a:r>
              <a:rPr lang="en-US" dirty="0" err="1"/>
              <a:t>definisanja</a:t>
            </a:r>
            <a:r>
              <a:rPr lang="en-US" dirty="0"/>
              <a:t> </a:t>
            </a:r>
            <a:r>
              <a:rPr lang="en-US" dirty="0" err="1"/>
              <a:t>endpointa</a:t>
            </a:r>
            <a:r>
              <a:rPr lang="en-US" dirty="0"/>
              <a:t>.”</a:t>
            </a:r>
          </a:p>
          <a:p>
            <a:r>
              <a:rPr lang="en-US" dirty="0"/>
              <a:t>Ako </a:t>
            </a:r>
            <a:r>
              <a:rPr lang="en-US" dirty="0" err="1"/>
              <a:t>hoćeš</a:t>
            </a:r>
            <a:r>
              <a:rPr lang="en-US" dirty="0"/>
              <a:t> </a:t>
            </a:r>
            <a:r>
              <a:rPr lang="en-US" dirty="0" err="1"/>
              <a:t>jače</a:t>
            </a:r>
            <a:r>
              <a:rPr lang="en-US" dirty="0"/>
              <a:t>:</a:t>
            </a:r>
          </a:p>
          <a:p>
            <a:r>
              <a:rPr lang="en-US" dirty="0"/>
              <a:t>“Minimal APIs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odgovor</a:t>
            </a:r>
            <a:r>
              <a:rPr lang="en-US" dirty="0"/>
              <a:t> .NET </a:t>
            </a:r>
            <a:r>
              <a:rPr lang="en-US" dirty="0" err="1"/>
              <a:t>sveta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Express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FastAPI</a:t>
            </a:r>
            <a:r>
              <a:rPr lang="en-US" dirty="0"/>
              <a:t> </a:t>
            </a:r>
            <a:r>
              <a:rPr lang="en-US" dirty="0" err="1"/>
              <a:t>stil</a:t>
            </a:r>
            <a:r>
              <a:rPr lang="en-US" dirty="0"/>
              <a:t> </a:t>
            </a:r>
            <a:r>
              <a:rPr lang="en-US" dirty="0" err="1"/>
              <a:t>razvoja</a:t>
            </a:r>
            <a:r>
              <a:rPr lang="en-US" dirty="0"/>
              <a:t>.”</a:t>
            </a:r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“Minimal APIs ne </a:t>
            </a:r>
            <a:r>
              <a:rPr lang="en-US" dirty="0" err="1"/>
              <a:t>uklanjaju</a:t>
            </a:r>
            <a:r>
              <a:rPr lang="en-US" dirty="0"/>
              <a:t> ASP.NET Core </a:t>
            </a:r>
            <a:r>
              <a:rPr lang="en-US" dirty="0" err="1"/>
              <a:t>mehanizme</a:t>
            </a:r>
            <a:r>
              <a:rPr lang="en-US" dirty="0"/>
              <a:t>, </a:t>
            </a:r>
            <a:r>
              <a:rPr lang="en-US" dirty="0" err="1"/>
              <a:t>već</a:t>
            </a:r>
            <a:r>
              <a:rPr lang="en-US" dirty="0"/>
              <a:t> </a:t>
            </a:r>
            <a:r>
              <a:rPr lang="en-US" dirty="0" err="1"/>
              <a:t>samo</a:t>
            </a:r>
            <a:r>
              <a:rPr lang="en-US" dirty="0"/>
              <a:t> </a:t>
            </a:r>
            <a:r>
              <a:rPr lang="en-US" dirty="0" err="1"/>
              <a:t>uklanjaju</a:t>
            </a:r>
            <a:r>
              <a:rPr lang="en-US" dirty="0"/>
              <a:t> </a:t>
            </a:r>
            <a:r>
              <a:rPr lang="en-US" dirty="0" err="1"/>
              <a:t>potrebu</a:t>
            </a:r>
            <a:r>
              <a:rPr lang="en-US" dirty="0"/>
              <a:t> za Controller </a:t>
            </a:r>
            <a:r>
              <a:rPr lang="en-US" dirty="0" err="1"/>
              <a:t>slojem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smanjuju</a:t>
            </a:r>
            <a:r>
              <a:rPr lang="en-US" dirty="0"/>
              <a:t> </a:t>
            </a:r>
            <a:r>
              <a:rPr lang="en-US" dirty="0" err="1"/>
              <a:t>ceremonijalni</a:t>
            </a:r>
            <a:r>
              <a:rPr lang="en-US" dirty="0"/>
              <a:t> </a:t>
            </a:r>
            <a:r>
              <a:rPr lang="en-US" dirty="0" err="1"/>
              <a:t>kod</a:t>
            </a:r>
            <a:r>
              <a:rPr lang="en-US" dirty="0"/>
              <a:t>. </a:t>
            </a:r>
            <a:r>
              <a:rPr lang="en-US" dirty="0" err="1"/>
              <a:t>Ispod</a:t>
            </a:r>
            <a:r>
              <a:rPr lang="en-US" dirty="0"/>
              <a:t> </a:t>
            </a:r>
            <a:r>
              <a:rPr lang="en-US" dirty="0" err="1"/>
              <a:t>haube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dalje</a:t>
            </a:r>
            <a:r>
              <a:rPr lang="en-US" dirty="0"/>
              <a:t> </a:t>
            </a:r>
            <a:r>
              <a:rPr lang="en-US" dirty="0" err="1"/>
              <a:t>koristimo</a:t>
            </a:r>
            <a:r>
              <a:rPr lang="en-US" dirty="0"/>
              <a:t> </a:t>
            </a:r>
            <a:r>
              <a:rPr lang="en-US" dirty="0" err="1"/>
              <a:t>isti</a:t>
            </a:r>
            <a:r>
              <a:rPr lang="en-US" dirty="0"/>
              <a:t> request pipeline, dependency injection </a:t>
            </a:r>
            <a:r>
              <a:rPr lang="en-US" dirty="0" err="1"/>
              <a:t>i</a:t>
            </a:r>
            <a:r>
              <a:rPr lang="en-US" dirty="0"/>
              <a:t> middleware.”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B3AB32-59DF-41F1-9618-EDFBF504962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95827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Manje</a:t>
            </a:r>
            <a:r>
              <a:rPr lang="es-ES" dirty="0"/>
              <a:t> </a:t>
            </a:r>
            <a:r>
              <a:rPr lang="es-ES" dirty="0" err="1"/>
              <a:t>slojeva</a:t>
            </a:r>
            <a:r>
              <a:rPr lang="es-ES" dirty="0"/>
              <a:t> u </a:t>
            </a:r>
            <a:r>
              <a:rPr lang="es-ES" dirty="0" err="1"/>
              <a:t>request</a:t>
            </a:r>
            <a:r>
              <a:rPr lang="es-ES" dirty="0"/>
              <a:t> pipeline-u</a:t>
            </a:r>
          </a:p>
          <a:p>
            <a:r>
              <a:rPr lang="en-US" dirty="0"/>
              <a:t>Nema </a:t>
            </a:r>
            <a:r>
              <a:rPr lang="en-US" dirty="0" err="1"/>
              <a:t>refleksije</a:t>
            </a:r>
            <a:r>
              <a:rPr lang="en-US" dirty="0"/>
              <a:t> </a:t>
            </a:r>
            <a:r>
              <a:rPr lang="en-US" dirty="0" err="1"/>
              <a:t>nad</a:t>
            </a:r>
            <a:r>
              <a:rPr lang="en-US" dirty="0"/>
              <a:t> Controller </a:t>
            </a:r>
            <a:r>
              <a:rPr lang="en-US" dirty="0" err="1"/>
              <a:t>klasama</a:t>
            </a:r>
            <a:endParaRPr lang="en-US" dirty="0"/>
          </a:p>
          <a:p>
            <a:r>
              <a:rPr lang="en-US" dirty="0"/>
              <a:t>Manje </a:t>
            </a:r>
            <a:r>
              <a:rPr lang="en-US" dirty="0" err="1"/>
              <a:t>alokacija</a:t>
            </a:r>
            <a:r>
              <a:rPr lang="en-US" dirty="0"/>
              <a:t> </a:t>
            </a:r>
            <a:r>
              <a:rPr lang="en-US" dirty="0" err="1"/>
              <a:t>memorije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B3AB32-59DF-41F1-9618-EDFBF504962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26913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B3AB32-59DF-41F1-9618-EDFBF5049629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0744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B3AB32-59DF-41F1-9618-EDFBF5049629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08467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Minimal APIs </a:t>
            </a:r>
            <a:r>
              <a:rPr lang="en-US" dirty="0" err="1"/>
              <a:t>omogućavaju</a:t>
            </a:r>
            <a:r>
              <a:rPr lang="en-US" dirty="0"/>
              <a:t> dependency injection </a:t>
            </a:r>
            <a:r>
              <a:rPr lang="en-US" dirty="0" err="1"/>
              <a:t>direktno</a:t>
            </a:r>
            <a:r>
              <a:rPr lang="en-US" dirty="0"/>
              <a:t> </a:t>
            </a:r>
            <a:r>
              <a:rPr lang="en-US" dirty="0" err="1"/>
              <a:t>kroz</a:t>
            </a:r>
            <a:r>
              <a:rPr lang="en-US" dirty="0"/>
              <a:t> </a:t>
            </a:r>
            <a:r>
              <a:rPr lang="en-US" dirty="0" err="1"/>
              <a:t>parametre</a:t>
            </a:r>
            <a:r>
              <a:rPr lang="en-US" dirty="0"/>
              <a:t> </a:t>
            </a:r>
            <a:r>
              <a:rPr lang="en-US" dirty="0" err="1"/>
              <a:t>endpointa</a:t>
            </a:r>
            <a:r>
              <a:rPr lang="en-US" dirty="0"/>
              <a:t>, bez </a:t>
            </a:r>
            <a:r>
              <a:rPr lang="en-US" dirty="0" err="1"/>
              <a:t>potrebe</a:t>
            </a:r>
            <a:r>
              <a:rPr lang="en-US" dirty="0"/>
              <a:t> za controller </a:t>
            </a:r>
            <a:r>
              <a:rPr lang="en-US" dirty="0" err="1"/>
              <a:t>klasama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konstruktorima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B3AB32-59DF-41F1-9618-EDFBF504962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78666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B3AB32-59DF-41F1-9618-EDFBF5049629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67141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493D4EDA-58E0-40CC-B3CA-14CDEB349D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Picture 6" descr="Digital Connections">
            <a:extLst>
              <a:ext uri="{FF2B5EF4-FFF2-40B4-BE49-F238E27FC236}">
                <a16:creationId xmlns:a16="http://schemas.microsoft.com/office/drawing/2014/main" id="{3840F91C-EDD0-4D4E-A4AB-E6C77856C88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AA9EB0BC-A85E-4C26-B355-5DFCEF6CC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643E56B-BD42-413D-B17D-7958270F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6C04F74-9467-4FA5-95DC-8D481A2974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73DE1C3-5C37-42E9-A3F0-256F193832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4A2E7EC3-E07C-46CE-9B25-41865A506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2C5318-1A1E-49D0-B2E2-A4B0FA9E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4572000"/>
            <a:ext cx="10993549" cy="895244"/>
          </a:xfrm>
        </p:spPr>
        <p:txBody>
          <a:bodyPr>
            <a:noAutofit/>
          </a:bodyPr>
          <a:lstStyle/>
          <a:p>
            <a:r>
              <a:rPr lang="fr-FR" sz="6000" dirty="0">
                <a:solidFill>
                  <a:schemeClr val="bg1"/>
                </a:solidFill>
              </a:rPr>
              <a:t>Minimal </a:t>
            </a:r>
            <a:r>
              <a:rPr lang="fr-FR" sz="6000" dirty="0" err="1">
                <a:solidFill>
                  <a:schemeClr val="bg1"/>
                </a:solidFill>
              </a:rPr>
              <a:t>API’s</a:t>
            </a:r>
            <a:r>
              <a:rPr lang="fr-FR" sz="6000" dirty="0">
                <a:solidFill>
                  <a:schemeClr val="bg1"/>
                </a:solidFill>
              </a:rPr>
              <a:t> u ASP.NET </a:t>
            </a:r>
            <a:r>
              <a:rPr lang="fr-FR" sz="6000" dirty="0" err="1">
                <a:solidFill>
                  <a:schemeClr val="bg1"/>
                </a:solidFill>
              </a:rPr>
              <a:t>Core</a:t>
            </a:r>
            <a:endParaRPr lang="en-US" sz="6000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5467245"/>
            <a:ext cx="10993546" cy="798087"/>
          </a:xfrm>
        </p:spPr>
        <p:txBody>
          <a:bodyPr>
            <a:normAutofit/>
          </a:bodyPr>
          <a:lstStyle/>
          <a:p>
            <a:r>
              <a:rPr lang="en-US" dirty="0"/>
              <a:t>🧑‍🎓 </a:t>
            </a:r>
            <a:r>
              <a:rPr lang="en-US" dirty="0">
                <a:solidFill>
                  <a:schemeClr val="bg1"/>
                </a:solidFill>
              </a:rPr>
              <a:t>Mihajlo Cvetković </a:t>
            </a:r>
          </a:p>
          <a:p>
            <a:r>
              <a:rPr lang="en-US" dirty="0"/>
              <a:t>📚 </a:t>
            </a:r>
            <a:r>
              <a:rPr lang="en-US" dirty="0" err="1">
                <a:solidFill>
                  <a:schemeClr val="bg1"/>
                </a:solidFill>
              </a:rPr>
              <a:t>Elektronski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fakultet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Niš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3BAF9-0E84-E9FF-654C-8B2E36876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/>
              <a:t>Koji problem </a:t>
            </a:r>
            <a:r>
              <a:rPr lang="en-US" sz="4400" dirty="0" err="1"/>
              <a:t>rešavamo</a:t>
            </a:r>
            <a:r>
              <a:rPr lang="en-US" sz="4400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F0451E-6EFB-F332-6264-F523A3AD24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 err="1"/>
              <a:t>Klasični</a:t>
            </a:r>
            <a:r>
              <a:rPr lang="en-US" sz="2400" dirty="0"/>
              <a:t> ASP.NET Web API </a:t>
            </a:r>
            <a:r>
              <a:rPr lang="en-US" sz="2400" dirty="0" err="1"/>
              <a:t>zahteva</a:t>
            </a:r>
            <a:r>
              <a:rPr lang="en-US" sz="2400" dirty="0"/>
              <a:t>:</a:t>
            </a:r>
          </a:p>
          <a:p>
            <a:r>
              <a:rPr lang="en-US" sz="2400" dirty="0"/>
              <a:t>Controllers</a:t>
            </a:r>
          </a:p>
          <a:p>
            <a:r>
              <a:rPr lang="en-US" sz="2400" dirty="0"/>
              <a:t>Attributes</a:t>
            </a:r>
          </a:p>
          <a:p>
            <a:r>
              <a:rPr lang="en-US" sz="2400" dirty="0" err="1"/>
              <a:t>Više</a:t>
            </a:r>
            <a:r>
              <a:rPr lang="en-US" sz="2400" dirty="0"/>
              <a:t> </a:t>
            </a:r>
            <a:r>
              <a:rPr lang="en-US" sz="2400" dirty="0" err="1"/>
              <a:t>fajlova</a:t>
            </a:r>
            <a:endParaRPr lang="en-US" sz="2400" dirty="0"/>
          </a:p>
          <a:p>
            <a:r>
              <a:rPr lang="en-US" sz="2400" dirty="0"/>
              <a:t>Boilerplate </a:t>
            </a:r>
            <a:r>
              <a:rPr lang="en-US" sz="2400" dirty="0" err="1"/>
              <a:t>kod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86951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49907-87CB-9A8B-DDCA-D007D8A8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 err="1"/>
              <a:t>Rešenje</a:t>
            </a:r>
            <a:r>
              <a:rPr lang="en-US" sz="4400" dirty="0"/>
              <a:t>: Minimal APIs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39697570-885E-09A2-3ECA-F7E60B6FBA59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454193" y="2752687"/>
            <a:ext cx="5802673" cy="29546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Uvedeni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.NET 6</a:t>
            </a:r>
            <a:endParaRPr lang="en-US" altLang="en-US" sz="28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Omogućavaju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6669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Definisanje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endpointa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bez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kontrolera</a:t>
            </a:r>
            <a:endParaRPr lang="en-US" altLang="en-US" sz="2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6669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Manje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fajlova</a:t>
            </a:r>
            <a:endParaRPr lang="en-US" altLang="en-US" sz="2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6669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Brži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razvoj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B61F4FF4-7804-24C9-C280-B45D5F9E71F2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6561667" y="2720941"/>
            <a:ext cx="5176140" cy="1815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Microservices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Brzi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prototipi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Backend za Angular / React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Internal API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servisi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4888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34B7C-0898-9FC2-C97E-AB201CFB2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/>
              <a:t>Web API vs Minimal API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5F73D4B-AE53-3D33-7F5B-E6D639D8FD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861" y="2138182"/>
            <a:ext cx="9326277" cy="2581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9550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87BBD3-E0FD-10B2-051B-E918B4E55A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4941" y="847364"/>
            <a:ext cx="8002117" cy="5163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99989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F3C96-E336-26FC-2D58-C9250F159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 err="1"/>
              <a:t>Kreiranje</a:t>
            </a:r>
            <a:r>
              <a:rPr lang="en-US" sz="4400" dirty="0"/>
              <a:t> Minimal </a:t>
            </a:r>
            <a:r>
              <a:rPr lang="en-US" sz="4400" dirty="0" err="1"/>
              <a:t>api</a:t>
            </a:r>
            <a:r>
              <a:rPr lang="en-US" sz="4400" dirty="0"/>
              <a:t> </a:t>
            </a:r>
            <a:r>
              <a:rPr lang="en-US" sz="4400" dirty="0" err="1"/>
              <a:t>servisa</a:t>
            </a:r>
            <a:endParaRPr lang="en-US" sz="44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A409549-8D63-A25E-0E2D-485CD52A5D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5379" y="2059305"/>
            <a:ext cx="5579965" cy="37623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3625CBB-3437-B517-31A0-D00102ACB5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903" y="2059304"/>
            <a:ext cx="5579966" cy="376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3426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1DCE4DD-48E1-9DAB-47EC-F1C4388D5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56" y="829054"/>
            <a:ext cx="5866580" cy="45252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3E608CA-F97A-0AE0-DAB4-400213BFFA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7065" y="829054"/>
            <a:ext cx="5866580" cy="4525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3011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A749D-5375-F32A-3FBB-32C717C01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/>
              <a:t>Request lifecycle in minimal </a:t>
            </a:r>
            <a:r>
              <a:rPr lang="en-US" sz="4400" dirty="0" err="1"/>
              <a:t>apis</a:t>
            </a:r>
            <a:endParaRPr lang="en-US" sz="4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C350F3-23C5-BBA0-837D-CEC6C21FD7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192" y="1993392"/>
            <a:ext cx="3139440" cy="4709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258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8E156-A793-D5EF-0729-8B29E6D8B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 err="1"/>
              <a:t>Mapiranje</a:t>
            </a:r>
            <a:r>
              <a:rPr lang="en-US" sz="4400" dirty="0"/>
              <a:t> </a:t>
            </a:r>
            <a:r>
              <a:rPr lang="en-US" sz="4400" dirty="0" err="1"/>
              <a:t>endpointa</a:t>
            </a:r>
            <a:endParaRPr lang="en-US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F667EF-BC7D-4402-C8D7-2476225A2D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600" dirty="0" err="1"/>
              <a:t>MapGet</a:t>
            </a:r>
            <a:endParaRPr lang="en-US" sz="3600" dirty="0"/>
          </a:p>
          <a:p>
            <a:r>
              <a:rPr lang="en-US" sz="3600" dirty="0" err="1"/>
              <a:t>MapPost</a:t>
            </a:r>
            <a:endParaRPr lang="en-US" sz="3600" dirty="0"/>
          </a:p>
          <a:p>
            <a:r>
              <a:rPr lang="en-US" sz="3600" dirty="0" err="1"/>
              <a:t>MapPut</a:t>
            </a:r>
            <a:endParaRPr lang="en-US" sz="3600" dirty="0"/>
          </a:p>
          <a:p>
            <a:r>
              <a:rPr lang="en-US" sz="3600" dirty="0"/>
              <a:t>Map Delete</a:t>
            </a:r>
          </a:p>
          <a:p>
            <a:pPr marL="0" indent="0" algn="r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9FE8DD-4D7E-9023-920C-D4727A0BF4D0}"/>
              </a:ext>
            </a:extLst>
          </p:cNvPr>
          <p:cNvSpPr txBox="1"/>
          <p:nvPr/>
        </p:nvSpPr>
        <p:spPr>
          <a:xfrm>
            <a:off x="5304246" y="3105834"/>
            <a:ext cx="677333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Primer:</a:t>
            </a:r>
          </a:p>
          <a:p>
            <a:r>
              <a:rPr lang="en-US" sz="2800" dirty="0" err="1"/>
              <a:t>app.MapGet</a:t>
            </a:r>
            <a:r>
              <a:rPr lang="en-US" sz="2800" dirty="0"/>
              <a:t>("/users/{id}", (int id) =&gt; id);</a:t>
            </a:r>
          </a:p>
        </p:txBody>
      </p:sp>
    </p:spTree>
    <p:extLst>
      <p:ext uri="{BB962C8B-B14F-4D97-AF65-F5344CB8AC3E}">
        <p14:creationId xmlns:p14="http://schemas.microsoft.com/office/powerpoint/2010/main" val="38586253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E807E-B44F-123C-762D-B757F1B8E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/>
              <a:t>Model Binding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91C00D-3D0A-D5D4-D63D-1A958B4AE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400" dirty="0" err="1"/>
              <a:t>Automatsko</a:t>
            </a:r>
            <a:r>
              <a:rPr lang="en-US" sz="2400" dirty="0"/>
              <a:t> </a:t>
            </a:r>
            <a:r>
              <a:rPr lang="en-US" sz="2400" dirty="0" err="1"/>
              <a:t>vezivanje</a:t>
            </a:r>
            <a:r>
              <a:rPr lang="en-US" sz="2400" dirty="0"/>
              <a:t> </a:t>
            </a:r>
            <a:r>
              <a:rPr lang="en-US" sz="2400" dirty="0" err="1"/>
              <a:t>podataka</a:t>
            </a:r>
            <a:endParaRPr lang="en-US" sz="2400" dirty="0"/>
          </a:p>
          <a:p>
            <a:pPr marL="0" indent="0">
              <a:buNone/>
            </a:pPr>
            <a:r>
              <a:rPr lang="en-US" sz="2400" dirty="0"/>
              <a:t>Minimal APIs </a:t>
            </a:r>
            <a:r>
              <a:rPr lang="en-US" sz="2400" dirty="0" err="1"/>
              <a:t>podržavaju</a:t>
            </a:r>
            <a:r>
              <a:rPr lang="en-US" sz="2400" dirty="0"/>
              <a:t>:</a:t>
            </a:r>
          </a:p>
          <a:p>
            <a:r>
              <a:rPr lang="en-US" sz="2400" dirty="0"/>
              <a:t>Route </a:t>
            </a:r>
            <a:r>
              <a:rPr lang="en-US" sz="2400" dirty="0" err="1"/>
              <a:t>parametre</a:t>
            </a:r>
            <a:endParaRPr lang="en-US" sz="2400" dirty="0"/>
          </a:p>
          <a:p>
            <a:r>
              <a:rPr lang="en-US" sz="2400" dirty="0"/>
              <a:t>Query </a:t>
            </a:r>
            <a:r>
              <a:rPr lang="en-US" sz="2400" dirty="0" err="1"/>
              <a:t>parametre</a:t>
            </a:r>
            <a:endParaRPr lang="en-US" sz="2400" dirty="0"/>
          </a:p>
          <a:p>
            <a:r>
              <a:rPr lang="en-US" sz="2400" dirty="0"/>
              <a:t>Body </a:t>
            </a:r>
            <a:r>
              <a:rPr lang="en-US" sz="2400" dirty="0" err="1"/>
              <a:t>objekte</a:t>
            </a:r>
            <a:endParaRPr lang="en-US" sz="2400" dirty="0"/>
          </a:p>
          <a:p>
            <a:r>
              <a:rPr lang="en-US" sz="2400" dirty="0"/>
              <a:t>Header-e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9B2293-8B18-6703-5334-420946E87D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6800" y="1868356"/>
            <a:ext cx="3078480" cy="4617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4129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9AD09-2E66-E846-8BEB-E6B58A04F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Dependency Injection u Minimal APIs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1BFAD1-A17A-80F6-0C33-20481F34FDA7}"/>
              </a:ext>
            </a:extLst>
          </p:cNvPr>
          <p:cNvSpPr txBox="1"/>
          <p:nvPr/>
        </p:nvSpPr>
        <p:spPr>
          <a:xfrm>
            <a:off x="438734" y="2194560"/>
            <a:ext cx="580644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DI </a:t>
            </a:r>
            <a:r>
              <a:rPr lang="en-US" sz="2400" b="1" dirty="0" err="1"/>
              <a:t>Kontejner</a:t>
            </a:r>
            <a:endParaRPr lang="en-US" sz="2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/>
              <a:t>Dodavanje</a:t>
            </a:r>
            <a:r>
              <a:rPr lang="en-US" sz="2400" dirty="0"/>
              <a:t> u </a:t>
            </a:r>
            <a:r>
              <a:rPr lang="en-US" sz="2400" dirty="0" err="1"/>
              <a:t>kontejner</a:t>
            </a:r>
            <a:r>
              <a:rPr lang="en-US" sz="2400" dirty="0"/>
              <a:t> </a:t>
            </a:r>
            <a:r>
              <a:rPr lang="en-US" sz="2400" dirty="0" err="1"/>
              <a:t>uz</a:t>
            </a:r>
            <a:r>
              <a:rPr lang="en-US" sz="2400" dirty="0"/>
              <a:t> </a:t>
            </a:r>
            <a:r>
              <a:rPr lang="en-US" sz="2400" dirty="0" err="1"/>
              <a:t>pomoc</a:t>
            </a:r>
            <a:r>
              <a:rPr lang="en-US" sz="2400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 err="1"/>
              <a:t>AddScoped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 err="1"/>
              <a:t>AddTransient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 err="1"/>
              <a:t>AddSingleton</a:t>
            </a:r>
            <a:endParaRPr lang="en-US" sz="2400" dirty="0"/>
          </a:p>
          <a:p>
            <a:pPr lvl="1"/>
            <a:endParaRPr lang="en-US" sz="2400" dirty="0"/>
          </a:p>
          <a:p>
            <a:pPr lvl="1"/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04622A-5B11-7843-BD87-04473DD06F7D}"/>
              </a:ext>
            </a:extLst>
          </p:cNvPr>
          <p:cNvSpPr txBox="1"/>
          <p:nvPr/>
        </p:nvSpPr>
        <p:spPr>
          <a:xfrm>
            <a:off x="5498592" y="3438144"/>
            <a:ext cx="669340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app.MapGet</a:t>
            </a:r>
            <a:r>
              <a:rPr lang="en-US" sz="2400" dirty="0"/>
              <a:t>("/users", (</a:t>
            </a:r>
            <a:r>
              <a:rPr lang="en-US" sz="2400" dirty="0" err="1"/>
              <a:t>IUserService</a:t>
            </a:r>
            <a:r>
              <a:rPr lang="en-US" sz="2400" dirty="0"/>
              <a:t> service) =&gt;</a:t>
            </a:r>
          </a:p>
          <a:p>
            <a:r>
              <a:rPr lang="en-US" sz="2400" dirty="0"/>
              <a:t>{</a:t>
            </a:r>
          </a:p>
          <a:p>
            <a:r>
              <a:rPr lang="en-US" sz="2400" dirty="0"/>
              <a:t>    return </a:t>
            </a:r>
            <a:r>
              <a:rPr lang="en-US" sz="2400" dirty="0" err="1"/>
              <a:t>service.GetAll</a:t>
            </a:r>
            <a:r>
              <a:rPr lang="en-US" sz="2400" dirty="0"/>
              <a:t>();</a:t>
            </a:r>
          </a:p>
          <a:p>
            <a:r>
              <a:rPr lang="en-US" sz="2400" dirty="0"/>
              <a:t>});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588E1E-5838-3B2E-7609-49818448FC9B}"/>
              </a:ext>
            </a:extLst>
          </p:cNvPr>
          <p:cNvSpPr txBox="1"/>
          <p:nvPr/>
        </p:nvSpPr>
        <p:spPr>
          <a:xfrm>
            <a:off x="575894" y="4434840"/>
            <a:ext cx="446245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/>
              <a:t>Prednosti</a:t>
            </a:r>
            <a:endParaRPr lang="en-US" sz="2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Manje </a:t>
            </a:r>
            <a:r>
              <a:rPr lang="en-US" sz="2400" dirty="0" err="1"/>
              <a:t>koda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/>
              <a:t>Čitljivost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/>
              <a:t>Lakše</a:t>
            </a:r>
            <a:r>
              <a:rPr lang="en-US" sz="2400" dirty="0"/>
              <a:t> </a:t>
            </a:r>
            <a:r>
              <a:rPr lang="en-US" sz="2400" dirty="0" err="1"/>
              <a:t>testiranje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3788888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97B3E-2370-ADCC-C049-1817177BD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/>
              <a:t>VALIDATION </a:t>
            </a:r>
            <a:r>
              <a:rPr lang="en-US" sz="4400" dirty="0" err="1"/>
              <a:t>strategije</a:t>
            </a:r>
            <a:endParaRPr lang="en-US" sz="4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1E2709-4CB4-5769-8D08-87A6DB9BCD03}"/>
              </a:ext>
            </a:extLst>
          </p:cNvPr>
          <p:cNvSpPr txBox="1"/>
          <p:nvPr/>
        </p:nvSpPr>
        <p:spPr>
          <a:xfrm>
            <a:off x="448056" y="2057400"/>
            <a:ext cx="111574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Nema </a:t>
            </a:r>
            <a:r>
              <a:rPr lang="en-US" sz="2400" dirty="0" err="1"/>
              <a:t>DataAnnotations</a:t>
            </a:r>
            <a:r>
              <a:rPr lang="en-US" sz="2400" dirty="0"/>
              <a:t> </a:t>
            </a:r>
            <a:r>
              <a:rPr lang="en-US" sz="2400" dirty="0" err="1"/>
              <a:t>validacije</a:t>
            </a:r>
            <a:r>
              <a:rPr lang="en-US" sz="2400" dirty="0"/>
              <a:t> </a:t>
            </a:r>
            <a:r>
              <a:rPr lang="en-US" sz="2400" dirty="0" err="1"/>
              <a:t>jer</a:t>
            </a:r>
            <a:r>
              <a:rPr lang="en-US" sz="2400" dirty="0"/>
              <a:t> ne </a:t>
            </a:r>
            <a:r>
              <a:rPr lang="en-US" sz="2400" dirty="0" err="1"/>
              <a:t>postoje</a:t>
            </a:r>
            <a:r>
              <a:rPr lang="en-US" sz="2400" dirty="0"/>
              <a:t> </a:t>
            </a:r>
            <a:r>
              <a:rPr lang="en-US" sz="2400" dirty="0" err="1"/>
              <a:t>kontoleri</a:t>
            </a:r>
            <a:r>
              <a:rPr lang="en-US" sz="2400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75F9CF-16A5-E911-D7B8-9EA199F7C87E}"/>
              </a:ext>
            </a:extLst>
          </p:cNvPr>
          <p:cNvSpPr txBox="1"/>
          <p:nvPr/>
        </p:nvSpPr>
        <p:spPr>
          <a:xfrm>
            <a:off x="448056" y="3429000"/>
            <a:ext cx="639165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app.MapPost</a:t>
            </a:r>
            <a:r>
              <a:rPr lang="en-US" dirty="0"/>
              <a:t>("/users", (</a:t>
            </a:r>
            <a:r>
              <a:rPr lang="en-US" dirty="0" err="1"/>
              <a:t>UserDto</a:t>
            </a:r>
            <a:r>
              <a:rPr lang="en-US" dirty="0"/>
              <a:t> </a:t>
            </a:r>
            <a:r>
              <a:rPr lang="en-US" dirty="0" err="1"/>
              <a:t>dto</a:t>
            </a:r>
            <a:r>
              <a:rPr lang="en-US" dirty="0"/>
              <a:t>) =&gt;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if (</a:t>
            </a:r>
            <a:r>
              <a:rPr lang="en-US" dirty="0" err="1"/>
              <a:t>string.IsNullOrEmpty</a:t>
            </a:r>
            <a:r>
              <a:rPr lang="en-US" dirty="0"/>
              <a:t>(</a:t>
            </a:r>
            <a:r>
              <a:rPr lang="en-US" dirty="0" err="1"/>
              <a:t>dto.Email</a:t>
            </a:r>
            <a:r>
              <a:rPr lang="en-US" dirty="0"/>
              <a:t>))</a:t>
            </a:r>
          </a:p>
          <a:p>
            <a:r>
              <a:rPr lang="en-US" dirty="0"/>
              <a:t>        return </a:t>
            </a:r>
            <a:r>
              <a:rPr lang="en-US" dirty="0" err="1"/>
              <a:t>Results.BadRequest</a:t>
            </a:r>
            <a:r>
              <a:rPr lang="en-US" dirty="0"/>
              <a:t>("Email required");</a:t>
            </a:r>
          </a:p>
          <a:p>
            <a:endParaRPr lang="en-US" dirty="0"/>
          </a:p>
          <a:p>
            <a:r>
              <a:rPr lang="en-US" dirty="0"/>
              <a:t>    return </a:t>
            </a:r>
            <a:r>
              <a:rPr lang="en-US" dirty="0" err="1"/>
              <a:t>Results.Ok</a:t>
            </a:r>
            <a:r>
              <a:rPr lang="en-US" dirty="0"/>
              <a:t>();</a:t>
            </a:r>
          </a:p>
          <a:p>
            <a:r>
              <a:rPr lang="en-US" dirty="0"/>
              <a:t>});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E59870-1740-5B42-00AF-F7A3CC35ABBE}"/>
              </a:ext>
            </a:extLst>
          </p:cNvPr>
          <p:cNvSpPr txBox="1"/>
          <p:nvPr/>
        </p:nvSpPr>
        <p:spPr>
          <a:xfrm>
            <a:off x="448056" y="2783373"/>
            <a:ext cx="3456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en-US" dirty="0" err="1"/>
              <a:t>Ručna</a:t>
            </a:r>
            <a:r>
              <a:rPr lang="en-US" dirty="0"/>
              <a:t> </a:t>
            </a:r>
            <a:r>
              <a:rPr lang="en-US" dirty="0" err="1"/>
              <a:t>validacija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7FCCD2-7374-1E8E-DA12-B2F0366E85F6}"/>
              </a:ext>
            </a:extLst>
          </p:cNvPr>
          <p:cNvSpPr txBox="1"/>
          <p:nvPr/>
        </p:nvSpPr>
        <p:spPr>
          <a:xfrm>
            <a:off x="6967728" y="2783373"/>
            <a:ext cx="4005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 </a:t>
            </a:r>
            <a:r>
              <a:rPr lang="en-US" dirty="0" err="1"/>
              <a:t>FluentValidation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E6FDB5-990E-CD69-036C-079C6CF00864}"/>
              </a:ext>
            </a:extLst>
          </p:cNvPr>
          <p:cNvSpPr txBox="1"/>
          <p:nvPr/>
        </p:nvSpPr>
        <p:spPr>
          <a:xfrm>
            <a:off x="6967728" y="3269533"/>
            <a:ext cx="522427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app.MapPost</a:t>
            </a:r>
            <a:r>
              <a:rPr lang="en-US" dirty="0"/>
              <a:t>("/users", (</a:t>
            </a:r>
          </a:p>
          <a:p>
            <a:r>
              <a:rPr lang="en-US" dirty="0"/>
              <a:t>    </a:t>
            </a:r>
            <a:r>
              <a:rPr lang="en-US" dirty="0" err="1"/>
              <a:t>UserDto</a:t>
            </a:r>
            <a:r>
              <a:rPr lang="en-US" dirty="0"/>
              <a:t> </a:t>
            </a:r>
            <a:r>
              <a:rPr lang="en-US" dirty="0" err="1"/>
              <a:t>dto</a:t>
            </a:r>
            <a:r>
              <a:rPr lang="en-US" dirty="0"/>
              <a:t>,</a:t>
            </a:r>
          </a:p>
          <a:p>
            <a:r>
              <a:rPr lang="en-US" dirty="0"/>
              <a:t>    </a:t>
            </a:r>
            <a:r>
              <a:rPr lang="en-US" dirty="0" err="1"/>
              <a:t>IValidator</a:t>
            </a:r>
            <a:r>
              <a:rPr lang="en-US" dirty="0"/>
              <a:t>&lt;</a:t>
            </a:r>
            <a:r>
              <a:rPr lang="en-US" dirty="0" err="1"/>
              <a:t>UserDto</a:t>
            </a:r>
            <a:r>
              <a:rPr lang="en-US" dirty="0"/>
              <a:t>&gt; validator) =&gt;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var result = </a:t>
            </a:r>
            <a:r>
              <a:rPr lang="en-US" dirty="0" err="1"/>
              <a:t>validator.Validate</a:t>
            </a:r>
            <a:r>
              <a:rPr lang="en-US" dirty="0"/>
              <a:t>(</a:t>
            </a:r>
            <a:r>
              <a:rPr lang="en-US" dirty="0" err="1"/>
              <a:t>dto</a:t>
            </a:r>
            <a:r>
              <a:rPr lang="en-US" dirty="0"/>
              <a:t>);</a:t>
            </a:r>
          </a:p>
          <a:p>
            <a:r>
              <a:rPr lang="en-US" dirty="0"/>
              <a:t>    if (!</a:t>
            </a:r>
            <a:r>
              <a:rPr lang="en-US" dirty="0" err="1"/>
              <a:t>result.IsValid</a:t>
            </a:r>
            <a:r>
              <a:rPr lang="en-US" dirty="0"/>
              <a:t>)</a:t>
            </a:r>
          </a:p>
          <a:p>
            <a:r>
              <a:rPr lang="en-US" dirty="0"/>
              <a:t>        return </a:t>
            </a:r>
            <a:r>
              <a:rPr lang="en-US" dirty="0" err="1"/>
              <a:t>Results.ValidationProblem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   return </a:t>
            </a:r>
            <a:r>
              <a:rPr lang="en-US" dirty="0" err="1"/>
              <a:t>Results.Ok</a:t>
            </a:r>
            <a:r>
              <a:rPr lang="en-US" dirty="0"/>
              <a:t>();</a:t>
            </a:r>
          </a:p>
          <a:p>
            <a:r>
              <a:rPr lang="en-US" dirty="0"/>
              <a:t>});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55489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40C83-F4A4-8452-FC60-0657B5A05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 err="1"/>
              <a:t>Povratne</a:t>
            </a:r>
            <a:r>
              <a:rPr lang="en-US" sz="4400" dirty="0"/>
              <a:t> </a:t>
            </a:r>
            <a:r>
              <a:rPr lang="en-US" sz="4400" dirty="0" err="1"/>
              <a:t>vrednosti</a:t>
            </a:r>
            <a:endParaRPr lang="en-US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0757D7-A542-C01B-BAE6-14C5B0596F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Za </a:t>
            </a:r>
            <a:r>
              <a:rPr lang="en-US" sz="2400" dirty="0" err="1"/>
              <a:t>razliku</a:t>
            </a:r>
            <a:r>
              <a:rPr lang="en-US" sz="2400" dirty="0"/>
              <a:t> od controller approach-a koji </a:t>
            </a:r>
            <a:r>
              <a:rPr lang="en-US" sz="2400" dirty="0" err="1"/>
              <a:t>koristi</a:t>
            </a:r>
            <a:r>
              <a:rPr lang="en-US" sz="2400" dirty="0"/>
              <a:t> </a:t>
            </a:r>
            <a:r>
              <a:rPr lang="en-US" sz="2400" dirty="0" err="1"/>
              <a:t>apstrakciju</a:t>
            </a:r>
            <a:r>
              <a:rPr lang="en-US" sz="2400" dirty="0"/>
              <a:t> </a:t>
            </a:r>
            <a:r>
              <a:rPr lang="en-US" sz="2400" dirty="0" err="1"/>
              <a:t>IActionResult</a:t>
            </a:r>
            <a:r>
              <a:rPr lang="en-US" sz="2400" dirty="0"/>
              <a:t>, </a:t>
            </a:r>
            <a:r>
              <a:rPr lang="en-US" sz="2400" dirty="0" err="1"/>
              <a:t>MinimalApi</a:t>
            </a:r>
            <a:r>
              <a:rPr lang="en-US" sz="2400" dirty="0"/>
              <a:t> </a:t>
            </a:r>
            <a:r>
              <a:rPr lang="en-US" sz="2400" dirty="0" err="1"/>
              <a:t>radi</a:t>
            </a:r>
            <a:r>
              <a:rPr lang="en-US" sz="2400" dirty="0"/>
              <a:t> </a:t>
            </a:r>
            <a:r>
              <a:rPr lang="en-US" sz="2400" dirty="0" err="1"/>
              <a:t>sa</a:t>
            </a:r>
            <a:r>
              <a:rPr lang="en-US" sz="2400" dirty="0"/>
              <a:t> </a:t>
            </a:r>
            <a:r>
              <a:rPr lang="en-US" sz="2400" dirty="0" err="1"/>
              <a:t>strogo</a:t>
            </a:r>
            <a:r>
              <a:rPr lang="en-US" sz="2400" dirty="0"/>
              <a:t> </a:t>
            </a:r>
            <a:r>
              <a:rPr lang="en-US" sz="2400" dirty="0" err="1"/>
              <a:t>tipiziranim</a:t>
            </a:r>
            <a:r>
              <a:rPr lang="en-US" sz="2400" dirty="0"/>
              <a:t> </a:t>
            </a:r>
            <a:r>
              <a:rPr lang="en-US" sz="2400" dirty="0" err="1"/>
              <a:t>podacima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dirty="0"/>
              <a:t>Klase Results I </a:t>
            </a:r>
            <a:r>
              <a:rPr lang="en-US" sz="2400" dirty="0" err="1"/>
              <a:t>TypedResults</a:t>
            </a:r>
            <a:r>
              <a:rPr lang="en-US" sz="2400" dirty="0"/>
              <a:t> d</a:t>
            </a:r>
            <a:r>
              <a:rPr lang="pl-PL" sz="2400" dirty="0"/>
              <a:t>aje potpunu kontrolu nad HTTP odgovorima.</a:t>
            </a:r>
            <a:endParaRPr lang="en-US" sz="2400" dirty="0"/>
          </a:p>
          <a:p>
            <a:r>
              <a:rPr lang="en-US" sz="2400" dirty="0" err="1"/>
              <a:t>Results.Ok</a:t>
            </a:r>
            <a:r>
              <a:rPr lang="en-US" sz="2400" dirty="0"/>
              <a:t>()</a:t>
            </a:r>
          </a:p>
          <a:p>
            <a:r>
              <a:rPr lang="en-US" sz="2400" dirty="0" err="1"/>
              <a:t>Results.NotFound</a:t>
            </a:r>
            <a:r>
              <a:rPr lang="en-US" sz="2400" dirty="0"/>
              <a:t>()</a:t>
            </a:r>
          </a:p>
          <a:p>
            <a:r>
              <a:rPr lang="en-US" sz="2400" dirty="0" err="1"/>
              <a:t>Results.BadRequest</a:t>
            </a:r>
            <a:r>
              <a:rPr lang="en-US" sz="2400" dirty="0"/>
              <a:t>()</a:t>
            </a:r>
          </a:p>
          <a:p>
            <a:r>
              <a:rPr lang="en-US" sz="2400" dirty="0" err="1"/>
              <a:t>Results.Redirect</a:t>
            </a:r>
            <a:r>
              <a:rPr lang="en-US" sz="240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6878704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A2669-2E29-4680-F554-95123B056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 err="1"/>
              <a:t>Ograničenja</a:t>
            </a:r>
            <a:endParaRPr lang="en-US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9C4FD4-E58E-D1F7-B4BD-1507A3451A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b="1" dirty="0"/>
              <a:t>Kada ne</a:t>
            </a:r>
            <a:r>
              <a:rPr lang="sr-Cyrl-RS" sz="2800" b="1" dirty="0"/>
              <a:t> </a:t>
            </a:r>
            <a:r>
              <a:rPr lang="en-US" sz="2800" b="1" dirty="0" err="1"/>
              <a:t>koristiti</a:t>
            </a:r>
            <a:r>
              <a:rPr lang="en-US" sz="2800" b="1" dirty="0"/>
              <a:t> Minimal APIs</a:t>
            </a:r>
          </a:p>
          <a:p>
            <a:r>
              <a:rPr lang="en-US" sz="2800" dirty="0" err="1"/>
              <a:t>Veliki</a:t>
            </a:r>
            <a:r>
              <a:rPr lang="en-US" sz="2800" dirty="0"/>
              <a:t> </a:t>
            </a:r>
            <a:r>
              <a:rPr lang="en-US" sz="2800" dirty="0" err="1"/>
              <a:t>sistemi</a:t>
            </a:r>
            <a:endParaRPr lang="en-US" sz="2800" dirty="0"/>
          </a:p>
          <a:p>
            <a:r>
              <a:rPr lang="en-US" sz="2800" dirty="0" err="1"/>
              <a:t>Veliki</a:t>
            </a:r>
            <a:r>
              <a:rPr lang="en-US" sz="2800" dirty="0"/>
              <a:t> </a:t>
            </a:r>
            <a:r>
              <a:rPr lang="en-US" sz="2800" dirty="0" err="1"/>
              <a:t>timovi</a:t>
            </a:r>
            <a:endParaRPr lang="en-US" sz="2800" dirty="0"/>
          </a:p>
          <a:p>
            <a:r>
              <a:rPr lang="en-US" sz="2800" dirty="0" err="1"/>
              <a:t>Previše</a:t>
            </a:r>
            <a:r>
              <a:rPr lang="en-US" sz="2800" dirty="0"/>
              <a:t> </a:t>
            </a:r>
            <a:r>
              <a:rPr lang="en-US" sz="2800" dirty="0" err="1"/>
              <a:t>logike</a:t>
            </a:r>
            <a:r>
              <a:rPr lang="en-US" sz="2800" dirty="0"/>
              <a:t> u </a:t>
            </a:r>
            <a:r>
              <a:rPr lang="en-US" sz="2800" dirty="0" err="1"/>
              <a:t>jednom</a:t>
            </a:r>
            <a:r>
              <a:rPr lang="en-US" sz="2800" dirty="0"/>
              <a:t> </a:t>
            </a:r>
            <a:r>
              <a:rPr lang="en-US" sz="2800" dirty="0" err="1"/>
              <a:t>fajlu</a:t>
            </a:r>
            <a:endParaRPr lang="en-US" sz="2800" dirty="0"/>
          </a:p>
          <a:p>
            <a:r>
              <a:rPr lang="en-US" sz="2800" dirty="0" err="1"/>
              <a:t>Kompleksna</a:t>
            </a:r>
            <a:r>
              <a:rPr lang="en-US" sz="2800" dirty="0"/>
              <a:t> </a:t>
            </a:r>
            <a:r>
              <a:rPr lang="en-US" sz="2800" dirty="0" err="1"/>
              <a:t>autorizacija</a:t>
            </a:r>
            <a:endParaRPr lang="en-US" sz="28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159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A1B64-A16A-5395-20F0-F3C32E733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/>
              <a:t>URL Shortener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1701AC-7EF4-F092-68F4-0A6338AF37CF}"/>
              </a:ext>
            </a:extLst>
          </p:cNvPr>
          <p:cNvSpPr txBox="1"/>
          <p:nvPr/>
        </p:nvSpPr>
        <p:spPr>
          <a:xfrm>
            <a:off x="482600" y="2091266"/>
            <a:ext cx="61171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/>
              <a:t>Tehnologije</a:t>
            </a:r>
            <a:r>
              <a:rPr lang="en-US" sz="2800" b="1" dirty="0"/>
              <a:t>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8B8E50-A5EC-D3E8-F863-9001C9A59A6E}"/>
              </a:ext>
            </a:extLst>
          </p:cNvPr>
          <p:cNvSpPr txBox="1"/>
          <p:nvPr/>
        </p:nvSpPr>
        <p:spPr>
          <a:xfrm>
            <a:off x="482599" y="2766187"/>
            <a:ext cx="635846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.NET 8 — Minimal APIs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Entity Framework Core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SQL Server (Docker)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Angular + Angular Material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Docker Compose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4805719-027A-F63B-8A2A-95B9A10E87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9767" y="1892299"/>
            <a:ext cx="3255434" cy="488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39351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98D00-99C6-3C55-7230-76FA24823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CB837-501F-FE2D-3FBB-27C9622FA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/>
              <a:t>URL Shortener - </a:t>
            </a:r>
            <a:r>
              <a:rPr lang="en-US" sz="4400" dirty="0" err="1"/>
              <a:t>pokretanje</a:t>
            </a:r>
            <a:endParaRPr lang="en-US" sz="4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6D5472-457E-2C79-C871-1BBF8F48AFCA}"/>
              </a:ext>
            </a:extLst>
          </p:cNvPr>
          <p:cNvSpPr txBox="1"/>
          <p:nvPr/>
        </p:nvSpPr>
        <p:spPr>
          <a:xfrm>
            <a:off x="482600" y="2091266"/>
            <a:ext cx="61171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/>
              <a:t>Pokretanje</a:t>
            </a:r>
            <a:r>
              <a:rPr lang="en-US" sz="2800" b="1" dirty="0"/>
              <a:t>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3CBBEC-EF0C-47E9-4DB1-D49FE9F24C11}"/>
              </a:ext>
            </a:extLst>
          </p:cNvPr>
          <p:cNvSpPr txBox="1"/>
          <p:nvPr/>
        </p:nvSpPr>
        <p:spPr>
          <a:xfrm>
            <a:off x="361949" y="2719794"/>
            <a:ext cx="635846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latin typeface="Arial" panose="020B0604020202020204" pitchFamily="34" charset="0"/>
              </a:rPr>
              <a:t>docker compose up (docker </a:t>
            </a:r>
            <a:r>
              <a:rPr lang="en-US" altLang="en-US" sz="2400" dirty="0" err="1">
                <a:latin typeface="Arial" panose="020B0604020202020204" pitchFamily="34" charset="0"/>
              </a:rPr>
              <a:t>kontejner</a:t>
            </a:r>
            <a:r>
              <a:rPr lang="en-US" altLang="en-US" sz="2400" dirty="0">
                <a:latin typeface="Arial" panose="020B0604020202020204" pitchFamily="34" charset="0"/>
              </a:rPr>
              <a:t>)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latin typeface="Arial" panose="020B0604020202020204" pitchFamily="34" charset="0"/>
              </a:rPr>
              <a:t>dotnet </a:t>
            </a:r>
            <a:r>
              <a:rPr lang="en-US" altLang="en-US" sz="2400" dirty="0" err="1">
                <a:latin typeface="Arial" panose="020B0604020202020204" pitchFamily="34" charset="0"/>
              </a:rPr>
              <a:t>ef</a:t>
            </a:r>
            <a:r>
              <a:rPr lang="en-US" altLang="en-US" sz="2400" dirty="0">
                <a:latin typeface="Arial" panose="020B0604020202020204" pitchFamily="34" charset="0"/>
              </a:rPr>
              <a:t> database update (</a:t>
            </a:r>
            <a:r>
              <a:rPr lang="en-US" altLang="en-US" sz="2400" dirty="0" err="1">
                <a:latin typeface="Arial" panose="020B0604020202020204" pitchFamily="34" charset="0"/>
              </a:rPr>
              <a:t>baza</a:t>
            </a:r>
            <a:r>
              <a:rPr lang="en-US" altLang="en-US" sz="2400" dirty="0">
                <a:latin typeface="Arial" panose="020B0604020202020204" pitchFamily="34" charset="0"/>
              </a:rPr>
              <a:t>)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 err="1">
                <a:latin typeface="Arial" panose="020B0604020202020204" pitchFamily="34" charset="0"/>
              </a:rPr>
              <a:t>npm</a:t>
            </a:r>
            <a:r>
              <a:rPr lang="en-US" altLang="en-US" sz="2400" dirty="0">
                <a:latin typeface="Arial" panose="020B0604020202020204" pitchFamily="34" charset="0"/>
              </a:rPr>
              <a:t> install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latin typeface="Arial" panose="020B0604020202020204" pitchFamily="34" charset="0"/>
              </a:rPr>
              <a:t>ng serve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0E459F-5470-3B10-C194-F9C876DBD1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7522" y="2612073"/>
            <a:ext cx="5437628" cy="3355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9296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9E1E2-985B-A185-99D1-6BDCA0B94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/>
              <a:t>URL Shortener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C985FA-7185-58D1-BB53-A976AAEB8C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1827" y="2224753"/>
            <a:ext cx="5541262" cy="29172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BF58AC-DB59-524B-48B4-7B2C24ACCF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2224753"/>
            <a:ext cx="5541264" cy="2917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7807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F87E73C-2B1A-4602-BFBE-CFE1E55D9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96275" y="1419226"/>
            <a:ext cx="3081576" cy="1746762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Hvala </a:t>
            </a:r>
            <a:r>
              <a:rPr lang="en-US" b="1" dirty="0" err="1">
                <a:solidFill>
                  <a:srgbClr val="FFFFFF"/>
                </a:solidFill>
              </a:rPr>
              <a:t>na</a:t>
            </a:r>
            <a:r>
              <a:rPr lang="en-US" b="1" dirty="0">
                <a:solidFill>
                  <a:srgbClr val="FFFFFF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paŽnji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CB511D-EA45-4336-847C-1252667143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96275" y="3505095"/>
            <a:ext cx="3081576" cy="2629006"/>
          </a:xfrm>
        </p:spPr>
        <p:txBody>
          <a:bodyPr>
            <a:normAutofit/>
          </a:bodyPr>
          <a:lstStyle/>
          <a:p>
            <a:endParaRPr lang="en-US" dirty="0">
              <a:solidFill>
                <a:schemeClr val="bg2"/>
              </a:solidFill>
            </a:endParaRPr>
          </a:p>
          <a:p>
            <a:endParaRPr lang="en-US" dirty="0">
              <a:solidFill>
                <a:schemeClr val="bg2"/>
              </a:solidFill>
            </a:endParaRPr>
          </a:p>
        </p:txBody>
      </p:sp>
      <p:pic>
        <p:nvPicPr>
          <p:cNvPr id="5" name="Picture 4" descr="Digital Numbers">
            <a:extLst>
              <a:ext uri="{FF2B5EF4-FFF2-40B4-BE49-F238E27FC236}">
                <a16:creationId xmlns:a16="http://schemas.microsoft.com/office/drawing/2014/main" id="{A21EA617-6D48-425F-97A8-7FEC82C8F40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189" r="9642" b="1"/>
          <a:stretch/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347425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56390039_win32_fixed.potx" id="{08D75CB0-AD9B-4834-8559-901094BB0ABE}" vid="{3B3EDB20-B381-4B6C-99AC-7C5CDA2B40F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92209EB-3212-4116-B574-D1F56C7C492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791575F-4C21-47C4-8D13-EB9BE66B536F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342D3C2F-55A5-48C0-9D5A-95C7FF0389D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Tech design</Template>
  <TotalTime>559</TotalTime>
  <Words>536</Words>
  <Application>Microsoft Office PowerPoint</Application>
  <PresentationFormat>Widescreen</PresentationFormat>
  <Paragraphs>116</Paragraphs>
  <Slides>18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Arial</vt:lpstr>
      <vt:lpstr>Calibri</vt:lpstr>
      <vt:lpstr>Courier New</vt:lpstr>
      <vt:lpstr>Gill Sans MT</vt:lpstr>
      <vt:lpstr>Times New Roman</vt:lpstr>
      <vt:lpstr>Wingdings</vt:lpstr>
      <vt:lpstr>Wingdings 2</vt:lpstr>
      <vt:lpstr>Custom</vt:lpstr>
      <vt:lpstr>Minimal API’s u ASP.NET Core</vt:lpstr>
      <vt:lpstr>Koji problem rešavamo?</vt:lpstr>
      <vt:lpstr>Rešenje: Minimal APIs</vt:lpstr>
      <vt:lpstr>Web API vs Minimal API</vt:lpstr>
      <vt:lpstr>PowerPoint Presentation</vt:lpstr>
      <vt:lpstr>Kreiranje Minimal api servisa</vt:lpstr>
      <vt:lpstr>PowerPoint Presentation</vt:lpstr>
      <vt:lpstr>Request lifecycle in minimal apis</vt:lpstr>
      <vt:lpstr>Mapiranje endpointa</vt:lpstr>
      <vt:lpstr>Model Binding</vt:lpstr>
      <vt:lpstr>Dependency Injection u Minimal APIs</vt:lpstr>
      <vt:lpstr>VALIDATION strategije</vt:lpstr>
      <vt:lpstr>Povratne vrednosti</vt:lpstr>
      <vt:lpstr>Ograničenja</vt:lpstr>
      <vt:lpstr>URL Shortener</vt:lpstr>
      <vt:lpstr>URL Shortener - pokretanje</vt:lpstr>
      <vt:lpstr>URL Shortener</vt:lpstr>
      <vt:lpstr>Hvala na paŽnji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Mihajlo Cvetkovic</dc:creator>
  <cp:lastModifiedBy>Mihajlo Cvetkovic</cp:lastModifiedBy>
  <cp:revision>9</cp:revision>
  <dcterms:created xsi:type="dcterms:W3CDTF">2026-02-08T10:23:16Z</dcterms:created>
  <dcterms:modified xsi:type="dcterms:W3CDTF">2026-02-09T10:26:34Z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