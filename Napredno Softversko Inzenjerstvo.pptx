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2" r:id="rId6"/>
    <p:sldId id="268" r:id="rId7"/>
    <p:sldId id="263" r:id="rId8"/>
    <p:sldId id="267" r:id="rId9"/>
    <p:sldId id="264" r:id="rId10"/>
    <p:sldId id="269" r:id="rId11"/>
    <p:sldId id="265" r:id="rId12"/>
    <p:sldId id="266" r:id="rId13"/>
    <p:sldId id="270" r:id="rId14"/>
    <p:sldId id="273" r:id="rId15"/>
    <p:sldId id="271" r:id="rId16"/>
    <p:sldId id="274" r:id="rId17"/>
    <p:sldId id="272" r:id="rId18"/>
    <p:sldId id="26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48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Ako </a:t>
            </a:r>
            <a:r>
              <a:rPr lang="en-US" dirty="0" err="1"/>
              <a:t>pravimo</a:t>
            </a:r>
            <a:r>
              <a:rPr lang="en-US" dirty="0"/>
              <a:t> </a:t>
            </a:r>
            <a:r>
              <a:rPr lang="en-US" dirty="0" err="1"/>
              <a:t>mali</a:t>
            </a:r>
            <a:r>
              <a:rPr lang="en-US" dirty="0"/>
              <a:t> REST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backend za SPA </a:t>
            </a:r>
            <a:r>
              <a:rPr lang="en-US" dirty="0" err="1"/>
              <a:t>aplikaciju</a:t>
            </a:r>
            <a:r>
              <a:rPr lang="en-US" dirty="0"/>
              <a:t>,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pišemo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infrastrukture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stvarne</a:t>
            </a:r>
            <a:r>
              <a:rPr lang="en-US" dirty="0"/>
              <a:t> </a:t>
            </a:r>
            <a:r>
              <a:rPr lang="en-US" dirty="0" err="1"/>
              <a:t>logike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025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7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846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fr-FR" sz="6000" dirty="0">
                <a:solidFill>
                  <a:schemeClr val="bg1"/>
                </a:solidFill>
              </a:rPr>
              <a:t>Minimal </a:t>
            </a:r>
            <a:r>
              <a:rPr lang="fr-FR" sz="6000" dirty="0" err="1">
                <a:solidFill>
                  <a:schemeClr val="bg1"/>
                </a:solidFill>
              </a:rPr>
              <a:t>API’s</a:t>
            </a:r>
            <a:r>
              <a:rPr lang="fr-FR" sz="6000" dirty="0">
                <a:solidFill>
                  <a:schemeClr val="bg1"/>
                </a:solidFill>
              </a:rPr>
              <a:t> u ASP.NET </a:t>
            </a:r>
            <a:r>
              <a:rPr lang="fr-FR" sz="6000" dirty="0" err="1">
                <a:solidFill>
                  <a:schemeClr val="bg1"/>
                </a:solidFill>
              </a:rPr>
              <a:t>Core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5"/>
            <a:ext cx="10993546" cy="798087"/>
          </a:xfrm>
        </p:spPr>
        <p:txBody>
          <a:bodyPr>
            <a:normAutofit/>
          </a:bodyPr>
          <a:lstStyle/>
          <a:p>
            <a:r>
              <a:rPr lang="en-US" dirty="0"/>
              <a:t>🧑‍🎓 </a:t>
            </a:r>
            <a:r>
              <a:rPr lang="en-US" dirty="0">
                <a:solidFill>
                  <a:schemeClr val="bg1"/>
                </a:solidFill>
              </a:rPr>
              <a:t>Mihajlo Cvetković </a:t>
            </a:r>
          </a:p>
          <a:p>
            <a:r>
              <a:rPr lang="en-US" dirty="0"/>
              <a:t>📚 </a:t>
            </a:r>
            <a:r>
              <a:rPr lang="en-US" dirty="0" err="1">
                <a:solidFill>
                  <a:schemeClr val="bg1"/>
                </a:solidFill>
              </a:rPr>
              <a:t>Elektronski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fakultet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Niš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BAF9-0E84-E9FF-654C-8B2E3687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Koji problem </a:t>
            </a:r>
            <a:r>
              <a:rPr lang="en-US" sz="4400" dirty="0" err="1"/>
              <a:t>rešavamo</a:t>
            </a:r>
            <a:r>
              <a:rPr lang="en-US" sz="44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0451E-6EFB-F332-6264-F523A3AD2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Klasični</a:t>
            </a:r>
            <a:r>
              <a:rPr lang="en-US" sz="2400" dirty="0"/>
              <a:t> ASP.NET Web API </a:t>
            </a:r>
            <a:r>
              <a:rPr lang="en-US" sz="2400" dirty="0" err="1"/>
              <a:t>zahteva</a:t>
            </a:r>
            <a:r>
              <a:rPr lang="en-US" sz="2400" dirty="0"/>
              <a:t>:</a:t>
            </a:r>
          </a:p>
          <a:p>
            <a:r>
              <a:rPr lang="en-US" sz="2400" dirty="0"/>
              <a:t>Controllers</a:t>
            </a:r>
          </a:p>
          <a:p>
            <a:r>
              <a:rPr lang="en-US" sz="2400" dirty="0"/>
              <a:t>Attributes</a:t>
            </a:r>
          </a:p>
          <a:p>
            <a:r>
              <a:rPr lang="en-US" sz="2400" dirty="0" err="1"/>
              <a:t>Više</a:t>
            </a:r>
            <a:r>
              <a:rPr lang="en-US" sz="2400" dirty="0"/>
              <a:t> </a:t>
            </a:r>
            <a:r>
              <a:rPr lang="en-US" sz="2400" dirty="0" err="1"/>
              <a:t>fajlova</a:t>
            </a:r>
            <a:endParaRPr lang="en-US" sz="2400" dirty="0"/>
          </a:p>
          <a:p>
            <a:r>
              <a:rPr lang="en-US" sz="2400" dirty="0"/>
              <a:t>Boilerplate </a:t>
            </a:r>
            <a:r>
              <a:rPr lang="en-US" sz="2400" dirty="0" err="1"/>
              <a:t>kod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695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9907-87CB-9A8B-DDCA-D007D8A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/>
              <a:t>Rešenje</a:t>
            </a:r>
            <a:r>
              <a:rPr lang="en-US" sz="4400" dirty="0"/>
              <a:t>: Minimal APIs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9697570-885E-09A2-3ECA-F7E60B6FBA5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54193" y="2752687"/>
            <a:ext cx="5802673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Uvedeni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.NET 6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Omogućavaju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6669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Definisanje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endpointa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bez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kontrolera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669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Manje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fajlova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669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Brži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razvoj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61F4FF4-7804-24C9-C280-B45D5F9E71F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561667" y="2720941"/>
            <a:ext cx="517614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Brzi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prototipi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za Angular / React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 API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servisi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88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4B7C-0898-9FC2-C97E-AB201CFB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Web API vs Minimal API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73D4B-AE53-3D33-7F5B-E6D639D8F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61" y="2138182"/>
            <a:ext cx="9326277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955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7BBD3-E0FD-10B2-051B-E918B4E55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1" y="847364"/>
            <a:ext cx="8002117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9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3C96-E336-26FC-2D58-C9250F15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/>
              <a:t>Kreiranje</a:t>
            </a:r>
            <a:r>
              <a:rPr lang="en-US" sz="4400" dirty="0"/>
              <a:t> Minimal </a:t>
            </a:r>
            <a:r>
              <a:rPr lang="en-US" sz="4400" dirty="0" err="1"/>
              <a:t>api</a:t>
            </a:r>
            <a:r>
              <a:rPr lang="en-US" sz="4400" dirty="0"/>
              <a:t> </a:t>
            </a:r>
            <a:r>
              <a:rPr lang="en-US" sz="4400" dirty="0" err="1"/>
              <a:t>servisa</a:t>
            </a:r>
            <a:endParaRPr lang="en-US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409549-8D63-A25E-0E2D-485CD52A5D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379" y="2059305"/>
            <a:ext cx="5681278" cy="3762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625CBB-3437-B517-31A0-D00102ACB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657" y="2059304"/>
            <a:ext cx="5649212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42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DCE4DD-48E1-9DAB-47EC-F1C4388D5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55" y="829054"/>
            <a:ext cx="5650550" cy="4525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E608CA-F97A-0AE0-DAB4-400213BFF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905" y="829054"/>
            <a:ext cx="6344740" cy="452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0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8E156-A793-D5EF-0729-8B29E6D8B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/>
              <a:t>Mapiranje</a:t>
            </a:r>
            <a:r>
              <a:rPr lang="en-US" sz="4400" dirty="0"/>
              <a:t> </a:t>
            </a:r>
            <a:r>
              <a:rPr lang="en-US" sz="4400" dirty="0" err="1"/>
              <a:t>endpointa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667EF-BC7D-4402-C8D7-2476225A2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err="1"/>
              <a:t>MapGet</a:t>
            </a:r>
            <a:endParaRPr lang="en-US" sz="3600" dirty="0"/>
          </a:p>
          <a:p>
            <a:r>
              <a:rPr lang="en-US" sz="3600" dirty="0" err="1"/>
              <a:t>MapPost</a:t>
            </a:r>
            <a:endParaRPr lang="en-US" sz="3600" dirty="0"/>
          </a:p>
          <a:p>
            <a:r>
              <a:rPr lang="en-US" sz="3600" dirty="0" err="1"/>
              <a:t>MapPut</a:t>
            </a:r>
            <a:endParaRPr lang="en-US" sz="3600" dirty="0"/>
          </a:p>
          <a:p>
            <a:r>
              <a:rPr lang="en-US" sz="3600" dirty="0"/>
              <a:t>Map Delete</a:t>
            </a:r>
          </a:p>
          <a:p>
            <a:pPr marL="0" indent="0" algn="r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FE8DD-4D7E-9023-920C-D4727A0BF4D0}"/>
              </a:ext>
            </a:extLst>
          </p:cNvPr>
          <p:cNvSpPr txBox="1"/>
          <p:nvPr/>
        </p:nvSpPr>
        <p:spPr>
          <a:xfrm>
            <a:off x="5304246" y="3105834"/>
            <a:ext cx="67733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Primer:</a:t>
            </a:r>
          </a:p>
          <a:p>
            <a:r>
              <a:rPr lang="en-US" sz="2800" dirty="0" err="1"/>
              <a:t>app.MapGet</a:t>
            </a:r>
            <a:r>
              <a:rPr lang="en-US" sz="2800" dirty="0"/>
              <a:t>("/users/{id}", (int id) =&gt; id);</a:t>
            </a:r>
          </a:p>
        </p:txBody>
      </p:sp>
    </p:spTree>
    <p:extLst>
      <p:ext uri="{BB962C8B-B14F-4D97-AF65-F5344CB8AC3E}">
        <p14:creationId xmlns:p14="http://schemas.microsoft.com/office/powerpoint/2010/main" val="3858625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807E-B44F-123C-762D-B757F1B8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Model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1C00D-3D0A-D5D4-D63D-1A958B4AE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/>
              <a:t>Automatsko</a:t>
            </a:r>
            <a:r>
              <a:rPr lang="en-US" sz="2400" dirty="0"/>
              <a:t> </a:t>
            </a:r>
            <a:r>
              <a:rPr lang="en-US" sz="2400" dirty="0" err="1"/>
              <a:t>vezivanje</a:t>
            </a:r>
            <a:r>
              <a:rPr lang="en-US" sz="2400" dirty="0"/>
              <a:t> </a:t>
            </a:r>
            <a:r>
              <a:rPr lang="en-US" sz="2400" dirty="0" err="1"/>
              <a:t>podataka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Minimal APIs </a:t>
            </a:r>
            <a:r>
              <a:rPr lang="en-US" sz="2400" dirty="0" err="1"/>
              <a:t>podržavaju</a:t>
            </a:r>
            <a:r>
              <a:rPr lang="en-US" sz="2400" dirty="0"/>
              <a:t>:</a:t>
            </a:r>
          </a:p>
          <a:p>
            <a:r>
              <a:rPr lang="en-US" sz="2400" dirty="0"/>
              <a:t>Route </a:t>
            </a:r>
            <a:r>
              <a:rPr lang="en-US" sz="2400" dirty="0" err="1"/>
              <a:t>parametre</a:t>
            </a:r>
            <a:endParaRPr lang="en-US" sz="2400" dirty="0"/>
          </a:p>
          <a:p>
            <a:r>
              <a:rPr lang="en-US" sz="2400" dirty="0"/>
              <a:t>Query </a:t>
            </a:r>
            <a:r>
              <a:rPr lang="en-US" sz="2400" dirty="0" err="1"/>
              <a:t>parametre</a:t>
            </a:r>
            <a:endParaRPr lang="en-US" sz="2400" dirty="0"/>
          </a:p>
          <a:p>
            <a:r>
              <a:rPr lang="en-US" sz="2400" dirty="0"/>
              <a:t>Body </a:t>
            </a:r>
            <a:r>
              <a:rPr lang="en-US" sz="2400" dirty="0" err="1"/>
              <a:t>objekte</a:t>
            </a:r>
            <a:endParaRPr lang="en-US" sz="2400" dirty="0"/>
          </a:p>
          <a:p>
            <a:r>
              <a:rPr lang="en-US" sz="2400" dirty="0"/>
              <a:t>Header-e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9B2293-8B18-6703-5334-420946E87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0" y="1868356"/>
            <a:ext cx="3078480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12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0C83-F4A4-8452-FC60-0657B5A0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/>
              <a:t>Povratne</a:t>
            </a:r>
            <a:r>
              <a:rPr lang="en-US" sz="4400" dirty="0"/>
              <a:t> </a:t>
            </a:r>
            <a:r>
              <a:rPr lang="en-US" sz="4400" dirty="0" err="1"/>
              <a:t>vrednosti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757D7-A542-C01B-BAE6-14C5B059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Klasa</a:t>
            </a:r>
            <a:r>
              <a:rPr lang="en-US" sz="2400" dirty="0"/>
              <a:t> Results d</a:t>
            </a:r>
            <a:r>
              <a:rPr lang="pl-PL" sz="2400" dirty="0"/>
              <a:t>aje potpunu kontrolu nad HTTP odgovorima.</a:t>
            </a:r>
            <a:endParaRPr lang="en-US" sz="2400" dirty="0"/>
          </a:p>
          <a:p>
            <a:r>
              <a:rPr lang="en-US" sz="2400" dirty="0" err="1"/>
              <a:t>Results.Ok</a:t>
            </a:r>
            <a:r>
              <a:rPr lang="en-US" sz="2400" dirty="0"/>
              <a:t>()</a:t>
            </a:r>
          </a:p>
          <a:p>
            <a:r>
              <a:rPr lang="en-US" sz="2400" dirty="0" err="1"/>
              <a:t>Results.NotFound</a:t>
            </a:r>
            <a:r>
              <a:rPr lang="en-US" sz="2400" dirty="0"/>
              <a:t>()</a:t>
            </a:r>
          </a:p>
          <a:p>
            <a:r>
              <a:rPr lang="en-US" sz="2400" dirty="0" err="1"/>
              <a:t>Results.BadRequest</a:t>
            </a:r>
            <a:r>
              <a:rPr lang="en-US" sz="2400" dirty="0"/>
              <a:t>()</a:t>
            </a:r>
          </a:p>
          <a:p>
            <a:r>
              <a:rPr lang="en-US" sz="2400" dirty="0" err="1"/>
              <a:t>Results.Redirect</a:t>
            </a:r>
            <a:r>
              <a:rPr lang="en-US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8787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2669-2E29-4680-F554-95123B05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/>
              <a:t>Ograničenja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C4FD4-E58E-D1F7-B4BD-1507A3451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Kada ne</a:t>
            </a:r>
            <a:r>
              <a:rPr lang="sr-Cyrl-RS" sz="2800" b="1" dirty="0"/>
              <a:t> </a:t>
            </a:r>
            <a:r>
              <a:rPr lang="en-US" sz="2800" b="1" dirty="0" err="1"/>
              <a:t>koristiti</a:t>
            </a:r>
            <a:r>
              <a:rPr lang="en-US" sz="2800" b="1" dirty="0"/>
              <a:t> Minimal APIs</a:t>
            </a:r>
          </a:p>
          <a:p>
            <a:r>
              <a:rPr lang="en-US" sz="2800" dirty="0" err="1"/>
              <a:t>Veliki</a:t>
            </a:r>
            <a:r>
              <a:rPr lang="en-US" sz="2800" dirty="0"/>
              <a:t> </a:t>
            </a:r>
            <a:r>
              <a:rPr lang="en-US" sz="2800" dirty="0" err="1"/>
              <a:t>sistemi</a:t>
            </a:r>
            <a:endParaRPr lang="en-US" sz="2800" dirty="0"/>
          </a:p>
          <a:p>
            <a:r>
              <a:rPr lang="en-US" sz="2800" dirty="0" err="1"/>
              <a:t>Veliki</a:t>
            </a:r>
            <a:r>
              <a:rPr lang="en-US" sz="2800" dirty="0"/>
              <a:t> </a:t>
            </a:r>
            <a:r>
              <a:rPr lang="en-US" sz="2800" dirty="0" err="1"/>
              <a:t>timovi</a:t>
            </a:r>
            <a:endParaRPr lang="en-US" sz="2800" dirty="0"/>
          </a:p>
          <a:p>
            <a:r>
              <a:rPr lang="en-US" sz="2800" dirty="0" err="1"/>
              <a:t>Previše</a:t>
            </a:r>
            <a:r>
              <a:rPr lang="en-US" sz="2800" dirty="0"/>
              <a:t> </a:t>
            </a:r>
            <a:r>
              <a:rPr lang="en-US" sz="2800" dirty="0" err="1"/>
              <a:t>logike</a:t>
            </a:r>
            <a:r>
              <a:rPr lang="en-US" sz="2800" dirty="0"/>
              <a:t> u </a:t>
            </a:r>
            <a:r>
              <a:rPr lang="en-US" sz="2800" dirty="0" err="1"/>
              <a:t>jednom</a:t>
            </a:r>
            <a:r>
              <a:rPr lang="en-US" sz="2800" dirty="0"/>
              <a:t> </a:t>
            </a:r>
            <a:r>
              <a:rPr lang="en-US" sz="2800" dirty="0" err="1"/>
              <a:t>fajlu</a:t>
            </a:r>
            <a:endParaRPr lang="en-US" sz="2800" dirty="0"/>
          </a:p>
          <a:p>
            <a:r>
              <a:rPr lang="en-US" sz="2800" dirty="0" err="1"/>
              <a:t>Kompleksna</a:t>
            </a:r>
            <a:r>
              <a:rPr lang="en-US" sz="2800" dirty="0"/>
              <a:t> </a:t>
            </a:r>
            <a:r>
              <a:rPr lang="en-US" sz="2800" dirty="0" err="1"/>
              <a:t>autorizacija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15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A1B64-A16A-5395-20F0-F3C32E73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URL Shortener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701AC-7EF4-F092-68F4-0A6338AF37CF}"/>
              </a:ext>
            </a:extLst>
          </p:cNvPr>
          <p:cNvSpPr txBox="1"/>
          <p:nvPr/>
        </p:nvSpPr>
        <p:spPr>
          <a:xfrm>
            <a:off x="482600" y="2091266"/>
            <a:ext cx="6117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Tehnologije</a:t>
            </a:r>
            <a:r>
              <a:rPr lang="en-US" sz="2800" b="1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B8E50-A5EC-D3E8-F863-9001C9A59A6E}"/>
              </a:ext>
            </a:extLst>
          </p:cNvPr>
          <p:cNvSpPr txBox="1"/>
          <p:nvPr/>
        </p:nvSpPr>
        <p:spPr>
          <a:xfrm>
            <a:off x="482599" y="2766187"/>
            <a:ext cx="63584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.NET 8 — Minimal APIs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 Framework Core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Server (Docker)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Angular + Angular Material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Compose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805719-027A-F63B-8A2A-95B9A10E8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767" y="1892299"/>
            <a:ext cx="3255434" cy="488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93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98D00-99C6-3C55-7230-76FA2482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B837-501F-FE2D-3FBB-27C9622F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URL Shortener- </a:t>
            </a:r>
            <a:r>
              <a:rPr lang="en-US" sz="4400" dirty="0" err="1"/>
              <a:t>pokretanje</a:t>
            </a:r>
            <a:endParaRPr lang="en-US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D5472-457E-2C79-C871-1BBF8F48AFCA}"/>
              </a:ext>
            </a:extLst>
          </p:cNvPr>
          <p:cNvSpPr txBox="1"/>
          <p:nvPr/>
        </p:nvSpPr>
        <p:spPr>
          <a:xfrm>
            <a:off x="482600" y="2091266"/>
            <a:ext cx="6117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Pokretanje</a:t>
            </a:r>
            <a:r>
              <a:rPr lang="en-US" sz="2800" b="1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3CBBEC-EF0C-47E9-4DB1-D49FE9F24C11}"/>
              </a:ext>
            </a:extLst>
          </p:cNvPr>
          <p:cNvSpPr txBox="1"/>
          <p:nvPr/>
        </p:nvSpPr>
        <p:spPr>
          <a:xfrm>
            <a:off x="361949" y="2719794"/>
            <a:ext cx="63584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docker compose up (docker </a:t>
            </a:r>
            <a:r>
              <a:rPr lang="en-US" altLang="en-US" sz="2400" dirty="0" err="1">
                <a:latin typeface="Arial" panose="020B0604020202020204" pitchFamily="34" charset="0"/>
              </a:rPr>
              <a:t>kontejner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dotnet </a:t>
            </a:r>
            <a:r>
              <a:rPr lang="en-US" altLang="en-US" sz="2400" dirty="0" err="1">
                <a:latin typeface="Arial" panose="020B0604020202020204" pitchFamily="34" charset="0"/>
              </a:rPr>
              <a:t>ef</a:t>
            </a:r>
            <a:r>
              <a:rPr lang="en-US" altLang="en-US" sz="2400" dirty="0">
                <a:latin typeface="Arial" panose="020B0604020202020204" pitchFamily="34" charset="0"/>
              </a:rPr>
              <a:t> database update (</a:t>
            </a:r>
            <a:r>
              <a:rPr lang="en-US" altLang="en-US" sz="2400" dirty="0" err="1">
                <a:latin typeface="Arial" panose="020B0604020202020204" pitchFamily="34" charset="0"/>
              </a:rPr>
              <a:t>baza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latin typeface="Arial" panose="020B0604020202020204" pitchFamily="34" charset="0"/>
              </a:rPr>
              <a:t>npm</a:t>
            </a:r>
            <a:r>
              <a:rPr lang="en-US" altLang="en-US" sz="2400" dirty="0">
                <a:latin typeface="Arial" panose="020B0604020202020204" pitchFamily="34" charset="0"/>
              </a:rPr>
              <a:t> install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ng serve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0E459F-5470-3B10-C194-F9C876DBD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522" y="2612073"/>
            <a:ext cx="5437628" cy="335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29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E1E2-985B-A185-99D1-6BDCA0B9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URL Shortener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C985FA-7185-58D1-BB53-A976AAEB8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360" y="2131342"/>
            <a:ext cx="5889439" cy="3010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F58AC-DB59-524B-48B4-7B2C24ACC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2224753"/>
            <a:ext cx="5718361" cy="291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80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Hvala </a:t>
            </a:r>
            <a:r>
              <a:rPr lang="en-US" dirty="0" err="1">
                <a:solidFill>
                  <a:srgbClr val="FFFFFF"/>
                </a:solidFill>
              </a:rPr>
              <a:t>na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paznji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458</TotalTime>
  <Words>233</Words>
  <Application>Microsoft Office PowerPoint</Application>
  <PresentationFormat>Widescreen</PresentationFormat>
  <Paragraphs>68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 New</vt:lpstr>
      <vt:lpstr>Gill Sans MT</vt:lpstr>
      <vt:lpstr>Wingdings</vt:lpstr>
      <vt:lpstr>Wingdings 2</vt:lpstr>
      <vt:lpstr>Custom</vt:lpstr>
      <vt:lpstr>Minimal API’s u ASP.NET Core</vt:lpstr>
      <vt:lpstr>Koji problem rešavamo?</vt:lpstr>
      <vt:lpstr>Rešenje: Minimal APIs</vt:lpstr>
      <vt:lpstr>Web API vs Minimal API</vt:lpstr>
      <vt:lpstr>PowerPoint Presentation</vt:lpstr>
      <vt:lpstr>Kreiranje Minimal api servisa</vt:lpstr>
      <vt:lpstr>PowerPoint Presentation</vt:lpstr>
      <vt:lpstr>Mapiranje endpointa</vt:lpstr>
      <vt:lpstr>Model Binding</vt:lpstr>
      <vt:lpstr>Povratne vrednosti</vt:lpstr>
      <vt:lpstr>Ograničenja</vt:lpstr>
      <vt:lpstr>URL Shortener</vt:lpstr>
      <vt:lpstr>URL Shortener- pokretanje</vt:lpstr>
      <vt:lpstr>URL Shortener</vt:lpstr>
      <vt:lpstr>Hvala na paznji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Mihajlo Cvetkovic</dc:creator>
  <cp:lastModifiedBy>Mihajlo Cvetkovic</cp:lastModifiedBy>
  <cp:revision>5</cp:revision>
  <dcterms:created xsi:type="dcterms:W3CDTF">2026-02-08T10:23:16Z</dcterms:created>
  <dcterms:modified xsi:type="dcterms:W3CDTF">2026-02-08T18:06:37Z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